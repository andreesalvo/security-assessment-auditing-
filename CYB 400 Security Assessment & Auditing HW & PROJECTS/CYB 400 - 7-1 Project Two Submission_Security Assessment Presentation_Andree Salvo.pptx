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0" autoAdjust="0"/>
    <p:restoredTop sz="70236" autoAdjust="0"/>
  </p:normalViewPr>
  <p:slideViewPr>
    <p:cSldViewPr snapToGrid="0">
      <p:cViewPr varScale="1">
        <p:scale>
          <a:sx n="54" d="100"/>
          <a:sy n="54" d="100"/>
        </p:scale>
        <p:origin x="108" y="3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5CE26A-61A6-45E4-9194-BED337B2EBDA}" type="datetimeFigureOut">
              <a:rPr lang="en-US" smtClean="0"/>
              <a:t>10/7/2025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BA05CB-7A85-4826-9093-0C3FB9F43890}" type="slidenum">
              <a:rPr lang="en-US" smtClean="0"/>
              <a:t>‹#›</a:t>
            </a:fld>
            <a:endParaRPr lang="en-US"/>
          </a:p>
        </p:txBody>
      </p:sp>
    </p:spTree>
    <p:extLst>
      <p:ext uri="{BB962C8B-B14F-4D97-AF65-F5344CB8AC3E}">
        <p14:creationId xmlns:p14="http://schemas.microsoft.com/office/powerpoint/2010/main" val="1445271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primary goal here at Grey Matter LLC is to ensure that </a:t>
            </a:r>
            <a:r>
              <a:rPr lang="en-US" dirty="0" err="1"/>
              <a:t>BrainMeld’s</a:t>
            </a:r>
            <a:r>
              <a:rPr lang="en-US" dirty="0"/>
              <a:t> systems can safely integrate with Grey Matter without introducing new risks. Using the OpenVAS scan, we identified several vulnerabilities that could leave the company susceptible to cyber threats. By addressing these issues promptly, we’ll ensure that operations continue to run smoothly, protect sensitive data, and maintain customer trust throughout the merger.</a:t>
            </a:r>
          </a:p>
          <a:p>
            <a:endParaRPr lang="en-US" dirty="0"/>
          </a:p>
        </p:txBody>
      </p:sp>
      <p:sp>
        <p:nvSpPr>
          <p:cNvPr id="4" name="Slide Number Placeholder 3"/>
          <p:cNvSpPr>
            <a:spLocks noGrp="1"/>
          </p:cNvSpPr>
          <p:nvPr>
            <p:ph type="sldNum" sz="quarter" idx="5"/>
          </p:nvPr>
        </p:nvSpPr>
        <p:spPr/>
        <p:txBody>
          <a:bodyPr/>
          <a:lstStyle/>
          <a:p>
            <a:fld id="{78BA05CB-7A85-4826-9093-0C3FB9F43890}" type="slidenum">
              <a:rPr lang="en-US" smtClean="0"/>
              <a:t>2</a:t>
            </a:fld>
            <a:endParaRPr lang="en-US"/>
          </a:p>
        </p:txBody>
      </p:sp>
    </p:spTree>
    <p:extLst>
      <p:ext uri="{BB962C8B-B14F-4D97-AF65-F5344CB8AC3E}">
        <p14:creationId xmlns:p14="http://schemas.microsoft.com/office/powerpoint/2010/main" val="3286800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have identified four relevant vulnerabilities that can be prioritized based on risk and the urgency of their resolution. The goal is to provide leadership with a clear understanding of where the company is most vulnerable and what actions should be taken first.</a:t>
            </a:r>
          </a:p>
        </p:txBody>
      </p:sp>
      <p:sp>
        <p:nvSpPr>
          <p:cNvPr id="4" name="Slide Number Placeholder 3"/>
          <p:cNvSpPr>
            <a:spLocks noGrp="1"/>
          </p:cNvSpPr>
          <p:nvPr>
            <p:ph type="sldNum" sz="quarter" idx="5"/>
          </p:nvPr>
        </p:nvSpPr>
        <p:spPr/>
        <p:txBody>
          <a:bodyPr/>
          <a:lstStyle/>
          <a:p>
            <a:fld id="{78BA05CB-7A85-4826-9093-0C3FB9F43890}" type="slidenum">
              <a:rPr lang="en-US" smtClean="0"/>
              <a:t>3</a:t>
            </a:fld>
            <a:endParaRPr lang="en-US"/>
          </a:p>
        </p:txBody>
      </p:sp>
    </p:spTree>
    <p:extLst>
      <p:ext uri="{BB962C8B-B14F-4D97-AF65-F5344CB8AC3E}">
        <p14:creationId xmlns:p14="http://schemas.microsoft.com/office/powerpoint/2010/main" val="285880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Older versions of Microsoft SQL Server are no longer supported or needed because they don’t receive security updates and are vulnerable to known exploits. This matters because hackers often target outdated systems with unpatched flaws. Updating or replacing these servers will help close those gaps and keep us protected with continued vendor support.</a:t>
            </a:r>
          </a:p>
        </p:txBody>
      </p:sp>
      <p:sp>
        <p:nvSpPr>
          <p:cNvPr id="4" name="Slide Number Placeholder 3"/>
          <p:cNvSpPr>
            <a:spLocks noGrp="1"/>
          </p:cNvSpPr>
          <p:nvPr>
            <p:ph type="sldNum" sz="quarter" idx="5"/>
          </p:nvPr>
        </p:nvSpPr>
        <p:spPr/>
        <p:txBody>
          <a:bodyPr/>
          <a:lstStyle/>
          <a:p>
            <a:fld id="{78BA05CB-7A85-4826-9093-0C3FB9F43890}" type="slidenum">
              <a:rPr lang="en-US" smtClean="0"/>
              <a:t>4</a:t>
            </a:fld>
            <a:endParaRPr lang="en-US"/>
          </a:p>
        </p:txBody>
      </p:sp>
    </p:spTree>
    <p:extLst>
      <p:ext uri="{BB962C8B-B14F-4D97-AF65-F5344CB8AC3E}">
        <p14:creationId xmlns:p14="http://schemas.microsoft.com/office/powerpoint/2010/main" val="8175420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vulnerability impacts how web servers handle specific HTTP requests. For example, if someone exploits it, they could gain full control of the system without even needing valid credentials.</a:t>
            </a:r>
            <a:br>
              <a:rPr lang="en-US" dirty="0"/>
            </a:br>
            <a:r>
              <a:rPr lang="en-US" dirty="0"/>
              <a:t>Why does it matter?: This puts both system uptime and data integrity at serious risk. Installing the vendor’s patch immediately is the best way to prevent any potential breaches or downtime.</a:t>
            </a:r>
          </a:p>
        </p:txBody>
      </p:sp>
      <p:sp>
        <p:nvSpPr>
          <p:cNvPr id="4" name="Slide Number Placeholder 3"/>
          <p:cNvSpPr>
            <a:spLocks noGrp="1"/>
          </p:cNvSpPr>
          <p:nvPr>
            <p:ph type="sldNum" sz="quarter" idx="5"/>
          </p:nvPr>
        </p:nvSpPr>
        <p:spPr/>
        <p:txBody>
          <a:bodyPr/>
          <a:lstStyle/>
          <a:p>
            <a:fld id="{78BA05CB-7A85-4826-9093-0C3FB9F43890}" type="slidenum">
              <a:rPr lang="en-US" smtClean="0"/>
              <a:t>5</a:t>
            </a:fld>
            <a:endParaRPr lang="en-US"/>
          </a:p>
        </p:txBody>
      </p:sp>
    </p:spTree>
    <p:extLst>
      <p:ext uri="{BB962C8B-B14F-4D97-AF65-F5344CB8AC3E}">
        <p14:creationId xmlns:p14="http://schemas.microsoft.com/office/powerpoint/2010/main" val="268268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logins are one of the top reasons data breaches happen. Enforcing strong, unique passwords and disabling default accounts will help safeguard our company’s data and client information.</a:t>
            </a:r>
          </a:p>
        </p:txBody>
      </p:sp>
      <p:sp>
        <p:nvSpPr>
          <p:cNvPr id="4" name="Slide Number Placeholder 3"/>
          <p:cNvSpPr>
            <a:spLocks noGrp="1"/>
          </p:cNvSpPr>
          <p:nvPr>
            <p:ph type="sldNum" sz="quarter" idx="5"/>
          </p:nvPr>
        </p:nvSpPr>
        <p:spPr/>
        <p:txBody>
          <a:bodyPr/>
          <a:lstStyle/>
          <a:p>
            <a:fld id="{78BA05CB-7A85-4826-9093-0C3FB9F43890}" type="slidenum">
              <a:rPr lang="en-US" smtClean="0"/>
              <a:t>6</a:t>
            </a:fld>
            <a:endParaRPr lang="en-US"/>
          </a:p>
        </p:txBody>
      </p:sp>
    </p:spTree>
    <p:extLst>
      <p:ext uri="{BB962C8B-B14F-4D97-AF65-F5344CB8AC3E}">
        <p14:creationId xmlns:p14="http://schemas.microsoft.com/office/powerpoint/2010/main" val="219812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Weak encryption makes it easier for attackers to intercept or read sensitive information as it’s sent between users and servers. Upgrading to stronger encryption standards will help keep both customer and company data private, aligning with industry best practices.</a:t>
            </a:r>
          </a:p>
          <a:p>
            <a:endParaRPr lang="en-US" dirty="0"/>
          </a:p>
        </p:txBody>
      </p:sp>
      <p:sp>
        <p:nvSpPr>
          <p:cNvPr id="4" name="Slide Number Placeholder 3"/>
          <p:cNvSpPr>
            <a:spLocks noGrp="1"/>
          </p:cNvSpPr>
          <p:nvPr>
            <p:ph type="sldNum" sz="quarter" idx="5"/>
          </p:nvPr>
        </p:nvSpPr>
        <p:spPr/>
        <p:txBody>
          <a:bodyPr/>
          <a:lstStyle/>
          <a:p>
            <a:fld id="{78BA05CB-7A85-4826-9093-0C3FB9F43890}" type="slidenum">
              <a:rPr lang="en-US" smtClean="0"/>
              <a:t>7</a:t>
            </a:fld>
            <a:endParaRPr lang="en-US"/>
          </a:p>
        </p:txBody>
      </p:sp>
    </p:spTree>
    <p:extLst>
      <p:ext uri="{BB962C8B-B14F-4D97-AF65-F5344CB8AC3E}">
        <p14:creationId xmlns:p14="http://schemas.microsoft.com/office/powerpoint/2010/main" val="5136770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addressing these issues in this order, Grey Matter LLC can reduce its risk exposure, enhance data security, and integrate </a:t>
            </a:r>
            <a:r>
              <a:rPr lang="en-US" dirty="0" err="1"/>
              <a:t>BrainMeld’s</a:t>
            </a:r>
            <a:r>
              <a:rPr lang="en-US" dirty="0"/>
              <a:t> systems without disrupting daily operations.</a:t>
            </a:r>
          </a:p>
          <a:p>
            <a:endParaRPr lang="en-US" dirty="0"/>
          </a:p>
        </p:txBody>
      </p:sp>
      <p:sp>
        <p:nvSpPr>
          <p:cNvPr id="4" name="Slide Number Placeholder 3"/>
          <p:cNvSpPr>
            <a:spLocks noGrp="1"/>
          </p:cNvSpPr>
          <p:nvPr>
            <p:ph type="sldNum" sz="quarter" idx="5"/>
          </p:nvPr>
        </p:nvSpPr>
        <p:spPr/>
        <p:txBody>
          <a:bodyPr/>
          <a:lstStyle/>
          <a:p>
            <a:fld id="{78BA05CB-7A85-4826-9093-0C3FB9F43890}" type="slidenum">
              <a:rPr lang="en-US" smtClean="0"/>
              <a:t>8</a:t>
            </a:fld>
            <a:endParaRPr lang="en-US"/>
          </a:p>
        </p:txBody>
      </p:sp>
    </p:spTree>
    <p:extLst>
      <p:ext uri="{BB962C8B-B14F-4D97-AF65-F5344CB8AC3E}">
        <p14:creationId xmlns:p14="http://schemas.microsoft.com/office/powerpoint/2010/main" val="3367178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850754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909488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512796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584528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556434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5631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275394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162292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6506828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76930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404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10/7/2025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0484126"/>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CE54A2A-DF49-4800-82E7-3AF9353F8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6125ED7-F0CF-40D9-8C60-51E188053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lose up of a logo&#10;&#10;Description automatically generated">
            <a:extLst>
              <a:ext uri="{FF2B5EF4-FFF2-40B4-BE49-F238E27FC236}">
                <a16:creationId xmlns:a16="http://schemas.microsoft.com/office/drawing/2014/main" id="{C52D5ECF-5A6F-4018-B6AE-0EC3EFE8B6EE}"/>
              </a:ext>
            </a:extLst>
          </p:cNvPr>
          <p:cNvPicPr>
            <a:picLocks noChangeAspect="1"/>
          </p:cNvPicPr>
          <p:nvPr/>
        </p:nvPicPr>
        <p:blipFill>
          <a:blip r:embed="rId2">
            <a:alphaModFix amt="60000"/>
            <a:extLst>
              <a:ext uri="{28A0092B-C50C-407E-A947-70E740481C1C}">
                <a14:useLocalDpi xmlns:a14="http://schemas.microsoft.com/office/drawing/2010/main" val="0"/>
              </a:ext>
            </a:extLst>
          </a:blip>
          <a:srcRect t="48014" b="3892"/>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E86B6B4B-DD83-5C30-E14D-EE36F185AD52}"/>
              </a:ext>
            </a:extLst>
          </p:cNvPr>
          <p:cNvSpPr>
            <a:spLocks noGrp="1"/>
          </p:cNvSpPr>
          <p:nvPr>
            <p:ph type="ctrTitle"/>
          </p:nvPr>
        </p:nvSpPr>
        <p:spPr>
          <a:xfrm>
            <a:off x="1052146" y="1077626"/>
            <a:ext cx="9958754" cy="3317443"/>
          </a:xfrm>
        </p:spPr>
        <p:txBody>
          <a:bodyPr anchor="t">
            <a:normAutofit/>
          </a:bodyPr>
          <a:lstStyle/>
          <a:p>
            <a:r>
              <a:rPr lang="en-US" sz="8000">
                <a:solidFill>
                  <a:srgbClr val="FFFFFF"/>
                </a:solidFill>
                <a:latin typeface="Times New Roman" panose="02020603050405020304" pitchFamily="18" charset="0"/>
                <a:cs typeface="Times New Roman" panose="02020603050405020304" pitchFamily="18" charset="0"/>
              </a:rPr>
              <a:t>Security Assessment Presentation </a:t>
            </a:r>
          </a:p>
        </p:txBody>
      </p:sp>
      <p:sp>
        <p:nvSpPr>
          <p:cNvPr id="3" name="Subtitle 2">
            <a:extLst>
              <a:ext uri="{FF2B5EF4-FFF2-40B4-BE49-F238E27FC236}">
                <a16:creationId xmlns:a16="http://schemas.microsoft.com/office/drawing/2014/main" id="{D582E4FB-DCAE-E6B2-38B8-38DC46E36FC6}"/>
              </a:ext>
            </a:extLst>
          </p:cNvPr>
          <p:cNvSpPr>
            <a:spLocks noGrp="1"/>
          </p:cNvSpPr>
          <p:nvPr>
            <p:ph type="subTitle" idx="1"/>
          </p:nvPr>
        </p:nvSpPr>
        <p:spPr>
          <a:xfrm>
            <a:off x="1097280" y="4572000"/>
            <a:ext cx="9257512" cy="1263047"/>
          </a:xfrm>
        </p:spPr>
        <p:txBody>
          <a:bodyPr anchor="b">
            <a:normAutofit/>
          </a:bodyPr>
          <a:lstStyle/>
          <a:p>
            <a:pPr>
              <a:lnSpc>
                <a:spcPct val="110000"/>
              </a:lnSpc>
            </a:pPr>
            <a:r>
              <a:rPr lang="en-US" sz="1700" b="1">
                <a:solidFill>
                  <a:srgbClr val="FFFFFF"/>
                </a:solidFill>
                <a:latin typeface="Times New Roman" panose="02020603050405020304" pitchFamily="18" charset="0"/>
                <a:cs typeface="Times New Roman" panose="02020603050405020304" pitchFamily="18" charset="0"/>
              </a:rPr>
              <a:t>Southern New Hampshire University </a:t>
            </a:r>
          </a:p>
          <a:p>
            <a:pPr>
              <a:lnSpc>
                <a:spcPct val="110000"/>
              </a:lnSpc>
            </a:pPr>
            <a:r>
              <a:rPr lang="en-US" sz="1700" b="1">
                <a:solidFill>
                  <a:srgbClr val="FFFFFF"/>
                </a:solidFill>
                <a:latin typeface="Times New Roman" panose="02020603050405020304" pitchFamily="18" charset="0"/>
                <a:cs typeface="Times New Roman" panose="02020603050405020304" pitchFamily="18" charset="0"/>
              </a:rPr>
              <a:t>CYB 400 Security Assessment &amp; Auditing</a:t>
            </a:r>
          </a:p>
          <a:p>
            <a:pPr>
              <a:lnSpc>
                <a:spcPct val="110000"/>
              </a:lnSpc>
            </a:pPr>
            <a:r>
              <a:rPr lang="en-US" sz="1700" b="1">
                <a:solidFill>
                  <a:srgbClr val="FFFFFF"/>
                </a:solidFill>
                <a:latin typeface="Times New Roman" panose="02020603050405020304" pitchFamily="18" charset="0"/>
                <a:cs typeface="Times New Roman" panose="02020603050405020304" pitchFamily="18" charset="0"/>
              </a:rPr>
              <a:t>Instructor: Robert Chubbuck</a:t>
            </a:r>
          </a:p>
        </p:txBody>
      </p:sp>
      <p:cxnSp>
        <p:nvCxnSpPr>
          <p:cNvPr id="24" name="Straight Connector 23">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06934"/>
            <a:ext cx="804195" cy="0"/>
          </a:xfrm>
          <a:prstGeom prst="line">
            <a:avLst/>
          </a:prstGeom>
          <a:ln w="123825">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9934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AB60E1-3066-43D0-BDD2-96DC8AC58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A494C2ED-D2EF-CD1E-E189-934763F5D881}"/>
              </a:ext>
            </a:extLst>
          </p:cNvPr>
          <p:cNvSpPr>
            <a:spLocks noGrp="1"/>
          </p:cNvSpPr>
          <p:nvPr>
            <p:ph type="title"/>
          </p:nvPr>
        </p:nvSpPr>
        <p:spPr>
          <a:xfrm>
            <a:off x="1088136" y="1069848"/>
            <a:ext cx="10084271" cy="1820488"/>
          </a:xfrm>
        </p:spPr>
        <p:txBody>
          <a:bodyPr>
            <a:normAutofit/>
          </a:bodyPr>
          <a:lstStyle/>
          <a:p>
            <a:r>
              <a:rPr lang="en-US" sz="6000">
                <a:solidFill>
                  <a:srgbClr val="FFFFFF"/>
                </a:solidFill>
              </a:rPr>
              <a:t>Introduction </a:t>
            </a:r>
          </a:p>
        </p:txBody>
      </p:sp>
      <p:cxnSp>
        <p:nvCxnSpPr>
          <p:cNvPr id="16" name="Straight Connector 15">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C3B74D9-A688-F6B9-ED6C-0FD99D68E498}"/>
              </a:ext>
            </a:extLst>
          </p:cNvPr>
          <p:cNvSpPr>
            <a:spLocks noGrp="1"/>
          </p:cNvSpPr>
          <p:nvPr>
            <p:ph idx="1"/>
          </p:nvPr>
        </p:nvSpPr>
        <p:spPr>
          <a:xfrm>
            <a:off x="7315200" y="3001297"/>
            <a:ext cx="3695700" cy="2949676"/>
          </a:xfrm>
        </p:spPr>
        <p:txBody>
          <a:bodyPr anchor="b">
            <a:normAutofit/>
          </a:bodyPr>
          <a:lstStyle/>
          <a:p>
            <a:r>
              <a:rPr lang="en-US">
                <a:solidFill>
                  <a:srgbClr val="FFFFFF"/>
                </a:solidFill>
                <a:latin typeface="Times New Roman" panose="02020603050405020304" pitchFamily="18" charset="0"/>
                <a:cs typeface="Times New Roman" panose="02020603050405020304" pitchFamily="18" charset="0"/>
              </a:rPr>
              <a:t>Evaluate BrainMeld’s network and systems.</a:t>
            </a:r>
          </a:p>
          <a:p>
            <a:r>
              <a:rPr lang="en-US">
                <a:solidFill>
                  <a:srgbClr val="FFFFFF"/>
                </a:solidFill>
                <a:latin typeface="Times New Roman" panose="02020603050405020304" pitchFamily="18" charset="0"/>
                <a:cs typeface="Times New Roman" panose="02020603050405020304" pitchFamily="18" charset="0"/>
              </a:rPr>
              <a:t>Identify vulnerabilities and weaknesses impacting our company. (Grey Matter)</a:t>
            </a:r>
          </a:p>
          <a:p>
            <a:r>
              <a:rPr lang="en-US">
                <a:solidFill>
                  <a:srgbClr val="FFFFFF"/>
                </a:solidFill>
                <a:latin typeface="Times New Roman" panose="02020603050405020304" pitchFamily="18" charset="0"/>
                <a:cs typeface="Times New Roman" panose="02020603050405020304" pitchFamily="18" charset="0"/>
              </a:rPr>
              <a:t>Prioritize fixes for smooth, secure integration.</a:t>
            </a:r>
          </a:p>
        </p:txBody>
      </p:sp>
    </p:spTree>
    <p:extLst>
      <p:ext uri="{BB962C8B-B14F-4D97-AF65-F5344CB8AC3E}">
        <p14:creationId xmlns:p14="http://schemas.microsoft.com/office/powerpoint/2010/main" val="186376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7BAB60E1-3066-43D0-BDD2-96DC8AC58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2D4FC7CF-DA5C-9078-E9F2-E256AE716C83}"/>
              </a:ext>
            </a:extLst>
          </p:cNvPr>
          <p:cNvSpPr>
            <a:spLocks noGrp="1"/>
          </p:cNvSpPr>
          <p:nvPr>
            <p:ph type="title"/>
          </p:nvPr>
        </p:nvSpPr>
        <p:spPr>
          <a:xfrm>
            <a:off x="1088136" y="1069848"/>
            <a:ext cx="10084271" cy="1820488"/>
          </a:xfrm>
        </p:spPr>
        <p:txBody>
          <a:bodyPr>
            <a:normAutofit/>
          </a:bodyPr>
          <a:lstStyle/>
          <a:p>
            <a:r>
              <a:rPr lang="en-US" sz="6000">
                <a:solidFill>
                  <a:srgbClr val="FFFFFF"/>
                </a:solidFill>
                <a:latin typeface="Times New Roman" panose="02020603050405020304" pitchFamily="18" charset="0"/>
                <a:cs typeface="Times New Roman" panose="02020603050405020304" pitchFamily="18" charset="0"/>
              </a:rPr>
              <a:t>Relevant Vulnerabilities </a:t>
            </a:r>
          </a:p>
        </p:txBody>
      </p:sp>
      <p:cxnSp>
        <p:nvCxnSpPr>
          <p:cNvPr id="25" name="Straight Connector 24">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1D4BC82-D429-8796-55C0-AC2CBC49F4A5}"/>
              </a:ext>
            </a:extLst>
          </p:cNvPr>
          <p:cNvSpPr>
            <a:spLocks noGrp="1"/>
          </p:cNvSpPr>
          <p:nvPr>
            <p:ph idx="1"/>
          </p:nvPr>
        </p:nvSpPr>
        <p:spPr>
          <a:xfrm>
            <a:off x="7315200" y="3001297"/>
            <a:ext cx="3695700" cy="2949676"/>
          </a:xfrm>
        </p:spPr>
        <p:txBody>
          <a:bodyPr anchor="b">
            <a:normAutofit/>
          </a:bodyPr>
          <a:lstStyle/>
          <a:p>
            <a:pPr>
              <a:lnSpc>
                <a:spcPct val="120000"/>
              </a:lnSpc>
            </a:pPr>
            <a:r>
              <a:rPr lang="en-US" sz="1500">
                <a:solidFill>
                  <a:srgbClr val="FFFFFF"/>
                </a:solidFill>
                <a:latin typeface="Times New Roman" panose="02020603050405020304" pitchFamily="18" charset="0"/>
                <a:cs typeface="Times New Roman" panose="02020603050405020304" pitchFamily="18" charset="0"/>
              </a:rPr>
              <a:t>Microsoft SQL Server End of Life Detection </a:t>
            </a:r>
          </a:p>
          <a:p>
            <a:pPr>
              <a:lnSpc>
                <a:spcPct val="120000"/>
              </a:lnSpc>
            </a:pPr>
            <a:r>
              <a:rPr lang="en-US" sz="1500">
                <a:solidFill>
                  <a:srgbClr val="FFFFFF"/>
                </a:solidFill>
              </a:rPr>
              <a:t>MS15-034 HTTP.sys Remote Code Execution Vulnerability </a:t>
            </a:r>
          </a:p>
          <a:p>
            <a:pPr>
              <a:lnSpc>
                <a:spcPct val="120000"/>
              </a:lnSpc>
            </a:pPr>
            <a:r>
              <a:rPr lang="en-US" sz="1500">
                <a:solidFill>
                  <a:srgbClr val="FFFFFF"/>
                </a:solidFill>
              </a:rPr>
              <a:t>NVT: SMB Brute Force Logins With Default Credentials (admin:guest)</a:t>
            </a:r>
          </a:p>
          <a:p>
            <a:pPr>
              <a:lnSpc>
                <a:spcPct val="120000"/>
              </a:lnSpc>
            </a:pPr>
            <a:r>
              <a:rPr lang="en-US" sz="1500">
                <a:solidFill>
                  <a:srgbClr val="FFFFFF"/>
                </a:solidFill>
              </a:rPr>
              <a:t>SSL/TLS: Report Weak Cipher Suites </a:t>
            </a:r>
            <a:endParaRPr lang="en-US" sz="150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18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0B51387-DF62-4500-88D6-AEF5409C4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80" cy="6857989"/>
          </a:xfrm>
          <a:prstGeom prst="rect">
            <a:avLst/>
          </a:prstGeom>
        </p:spPr>
      </p:pic>
      <p:sp>
        <p:nvSpPr>
          <p:cNvPr id="2" name="Title 1">
            <a:extLst>
              <a:ext uri="{FF2B5EF4-FFF2-40B4-BE49-F238E27FC236}">
                <a16:creationId xmlns:a16="http://schemas.microsoft.com/office/drawing/2014/main" id="{DD9A5722-BBCA-B584-9528-F5548A4DAACB}"/>
              </a:ext>
            </a:extLst>
          </p:cNvPr>
          <p:cNvSpPr>
            <a:spLocks noGrp="1"/>
          </p:cNvSpPr>
          <p:nvPr>
            <p:ph type="title"/>
          </p:nvPr>
        </p:nvSpPr>
        <p:spPr>
          <a:xfrm>
            <a:off x="1088136" y="1066110"/>
            <a:ext cx="5625342" cy="4630055"/>
          </a:xfrm>
        </p:spPr>
        <p:txBody>
          <a:bodyPr>
            <a:normAutofit/>
          </a:bodyPr>
          <a:lstStyle/>
          <a:p>
            <a:r>
              <a:rPr lang="en-US" sz="6000">
                <a:solidFill>
                  <a:srgbClr val="FFFFFF"/>
                </a:solidFill>
              </a:rPr>
              <a:t>Microsoft SQL Server End of Life Detection</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A9C9B7-13D6-8E34-86DD-0933FD74D62D}"/>
              </a:ext>
            </a:extLst>
          </p:cNvPr>
          <p:cNvSpPr>
            <a:spLocks noGrp="1"/>
          </p:cNvSpPr>
          <p:nvPr>
            <p:ph idx="1"/>
          </p:nvPr>
        </p:nvSpPr>
        <p:spPr>
          <a:xfrm>
            <a:off x="7315200" y="1007404"/>
            <a:ext cx="3695700" cy="5279095"/>
          </a:xfrm>
        </p:spPr>
        <p:txBody>
          <a:bodyPr>
            <a:normAutofit/>
          </a:bodyPr>
          <a:lstStyle/>
          <a:p>
            <a:r>
              <a:rPr lang="en-US">
                <a:solidFill>
                  <a:srgbClr val="FFFFFF"/>
                </a:solidFill>
                <a:latin typeface="Times New Roman" panose="02020603050405020304" pitchFamily="18" charset="0"/>
                <a:cs typeface="Times New Roman" panose="02020603050405020304" pitchFamily="18" charset="0"/>
              </a:rPr>
              <a:t>The system is running an outdated version of Microsoft SQL Server that is no longer supported by Microsoft. </a:t>
            </a:r>
          </a:p>
          <a:p>
            <a:r>
              <a:rPr lang="en-US">
                <a:solidFill>
                  <a:srgbClr val="FFFFFF"/>
                </a:solidFill>
                <a:latin typeface="Times New Roman" panose="02020603050405020304" pitchFamily="18" charset="0"/>
                <a:cs typeface="Times New Roman" panose="02020603050405020304" pitchFamily="18" charset="0"/>
              </a:rPr>
              <a:t>No longer receiving security patches or updates, making it a lot easier for attackers to exploit outdated versions.</a:t>
            </a:r>
          </a:p>
          <a:p>
            <a:r>
              <a:rPr lang="en-US">
                <a:solidFill>
                  <a:srgbClr val="FFFFFF"/>
                </a:solidFill>
                <a:latin typeface="Times New Roman" panose="02020603050405020304" pitchFamily="18" charset="0"/>
                <a:cs typeface="Times New Roman" panose="02020603050405020304" pitchFamily="18" charset="0"/>
              </a:rPr>
              <a:t>Data loss, service disruptions, or unauthorized access could lead attackers to steal valuable data if the outdated version of Microsoft SQL is not upgraded or replaced. </a:t>
            </a:r>
          </a:p>
        </p:txBody>
      </p:sp>
    </p:spTree>
    <p:extLst>
      <p:ext uri="{BB962C8B-B14F-4D97-AF65-F5344CB8AC3E}">
        <p14:creationId xmlns:p14="http://schemas.microsoft.com/office/powerpoint/2010/main" val="3950014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AB60E1-3066-43D0-BDD2-96DC8AC58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B82FFBFB-BFC9-B58C-6D5B-8872E360601F}"/>
              </a:ext>
            </a:extLst>
          </p:cNvPr>
          <p:cNvSpPr>
            <a:spLocks noGrp="1"/>
          </p:cNvSpPr>
          <p:nvPr>
            <p:ph type="title"/>
          </p:nvPr>
        </p:nvSpPr>
        <p:spPr>
          <a:xfrm>
            <a:off x="1088136" y="1069848"/>
            <a:ext cx="10084271" cy="1820488"/>
          </a:xfrm>
        </p:spPr>
        <p:txBody>
          <a:bodyPr>
            <a:normAutofit/>
          </a:bodyPr>
          <a:lstStyle/>
          <a:p>
            <a:r>
              <a:rPr lang="en-US" sz="6000">
                <a:solidFill>
                  <a:srgbClr val="FFFFFF"/>
                </a:solidFill>
                <a:latin typeface="Times New Roman" panose="02020603050405020304" pitchFamily="18" charset="0"/>
                <a:cs typeface="Times New Roman" panose="02020603050405020304" pitchFamily="18" charset="0"/>
              </a:rPr>
              <a:t>MS15-034 HTTP.sys Remote Code Execution Vulnerability</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0097261E-C958-66E8-419E-75247DC2107C}"/>
              </a:ext>
            </a:extLst>
          </p:cNvPr>
          <p:cNvSpPr>
            <a:spLocks noGrp="1"/>
          </p:cNvSpPr>
          <p:nvPr>
            <p:ph idx="1"/>
          </p:nvPr>
        </p:nvSpPr>
        <p:spPr>
          <a:xfrm>
            <a:off x="7315200" y="3001297"/>
            <a:ext cx="3695700" cy="2949676"/>
          </a:xfrm>
        </p:spPr>
        <p:txBody>
          <a:bodyPr anchor="b">
            <a:normAutofit/>
          </a:bodyPr>
          <a:lstStyle/>
          <a:p>
            <a:pPr>
              <a:lnSpc>
                <a:spcPct val="120000"/>
              </a:lnSpc>
            </a:pPr>
            <a:r>
              <a:rPr lang="en-US" sz="1400" dirty="0">
                <a:solidFill>
                  <a:srgbClr val="FFFFFF"/>
                </a:solidFill>
              </a:rPr>
              <a:t>The MS15=034 HTTP.sys Remote Code vulnerability can be found in Windows Web servers that handle internet traffic. </a:t>
            </a:r>
          </a:p>
          <a:p>
            <a:pPr>
              <a:lnSpc>
                <a:spcPct val="120000"/>
              </a:lnSpc>
            </a:pPr>
            <a:r>
              <a:rPr lang="en-US" sz="1400" dirty="0">
                <a:solidFill>
                  <a:srgbClr val="FFFFFF"/>
                </a:solidFill>
              </a:rPr>
              <a:t>Allows attackers to send a unique, crafted HTTP request to a server and gain full control. </a:t>
            </a:r>
          </a:p>
          <a:p>
            <a:pPr>
              <a:lnSpc>
                <a:spcPct val="120000"/>
              </a:lnSpc>
            </a:pPr>
            <a:r>
              <a:rPr lang="en-US" sz="1400" dirty="0">
                <a:solidFill>
                  <a:srgbClr val="FFFFFF"/>
                </a:solidFill>
              </a:rPr>
              <a:t>This vulnerability is used to install malware, steal data, or crash websites that rely on servers. </a:t>
            </a:r>
          </a:p>
        </p:txBody>
      </p:sp>
    </p:spTree>
    <p:extLst>
      <p:ext uri="{BB962C8B-B14F-4D97-AF65-F5344CB8AC3E}">
        <p14:creationId xmlns:p14="http://schemas.microsoft.com/office/powerpoint/2010/main" val="4065740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0B51387-DF62-4500-88D6-AEF5409C4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80" cy="6857989"/>
          </a:xfrm>
          <a:prstGeom prst="rect">
            <a:avLst/>
          </a:prstGeom>
        </p:spPr>
      </p:pic>
      <p:sp>
        <p:nvSpPr>
          <p:cNvPr id="2" name="Title 1">
            <a:extLst>
              <a:ext uri="{FF2B5EF4-FFF2-40B4-BE49-F238E27FC236}">
                <a16:creationId xmlns:a16="http://schemas.microsoft.com/office/drawing/2014/main" id="{A86FC3E1-4AFF-0F14-860A-8C0698BC9613}"/>
              </a:ext>
            </a:extLst>
          </p:cNvPr>
          <p:cNvSpPr>
            <a:spLocks noGrp="1"/>
          </p:cNvSpPr>
          <p:nvPr>
            <p:ph type="title"/>
          </p:nvPr>
        </p:nvSpPr>
        <p:spPr>
          <a:xfrm>
            <a:off x="1088136" y="1066110"/>
            <a:ext cx="5625342" cy="4630055"/>
          </a:xfrm>
        </p:spPr>
        <p:txBody>
          <a:bodyPr>
            <a:normAutofit/>
          </a:bodyPr>
          <a:lstStyle/>
          <a:p>
            <a:r>
              <a:rPr lang="en-US" sz="6000">
                <a:solidFill>
                  <a:srgbClr val="FFFFFF"/>
                </a:solidFill>
                <a:latin typeface="Times New Roman" panose="02020603050405020304" pitchFamily="18" charset="0"/>
                <a:cs typeface="Times New Roman" panose="02020603050405020304" pitchFamily="18" charset="0"/>
              </a:rPr>
              <a:t>SMB Brute Force Logins With Default Credentials (admin:guest)</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3F9B677-7A27-BD53-67CD-613239FE9467}"/>
              </a:ext>
            </a:extLst>
          </p:cNvPr>
          <p:cNvSpPr>
            <a:spLocks noGrp="1"/>
          </p:cNvSpPr>
          <p:nvPr>
            <p:ph idx="1"/>
          </p:nvPr>
        </p:nvSpPr>
        <p:spPr>
          <a:xfrm>
            <a:off x="7315200" y="1007404"/>
            <a:ext cx="3695700" cy="5279095"/>
          </a:xfrm>
        </p:spPr>
        <p:txBody>
          <a:bodyPr>
            <a:normAutofit/>
          </a:bodyPr>
          <a:lstStyle/>
          <a:p>
            <a:pPr>
              <a:lnSpc>
                <a:spcPct val="120000"/>
              </a:lnSpc>
            </a:pPr>
            <a:r>
              <a:rPr lang="en-US" sz="1500">
                <a:solidFill>
                  <a:srgbClr val="FFFFFF"/>
                </a:solidFill>
              </a:rPr>
              <a:t>Default or weak credentials like “admin; guest” passwords make it easy for attackers to guess passwords using brute-force tools.</a:t>
            </a:r>
          </a:p>
          <a:p>
            <a:pPr>
              <a:lnSpc>
                <a:spcPct val="120000"/>
              </a:lnSpc>
            </a:pPr>
            <a:r>
              <a:rPr lang="en-US" sz="1500">
                <a:solidFill>
                  <a:srgbClr val="FFFFFF"/>
                </a:solidFill>
              </a:rPr>
              <a:t> SMB Brute Force can lead to unauthorized access, stolen data, or malware or ransomware infections if passwords aren’t adequately secured using password hygiene.</a:t>
            </a:r>
          </a:p>
          <a:p>
            <a:pPr>
              <a:lnSpc>
                <a:spcPct val="120000"/>
              </a:lnSpc>
            </a:pPr>
            <a:r>
              <a:rPr lang="en-US" sz="1500">
                <a:solidFill>
                  <a:srgbClr val="FFFFFF"/>
                </a:solidFill>
              </a:rPr>
              <a:t>Default usernames and passwords should be updated right away when setting up a new system.</a:t>
            </a:r>
          </a:p>
          <a:p>
            <a:pPr>
              <a:lnSpc>
                <a:spcPct val="120000"/>
              </a:lnSpc>
            </a:pPr>
            <a:r>
              <a:rPr lang="en-US" sz="1500">
                <a:solidFill>
                  <a:srgbClr val="FFFFFF"/>
                </a:solidFill>
              </a:rPr>
              <a:t>Company policies should require IT staff to replace default passwords and enforce strong password complexity standards. </a:t>
            </a:r>
          </a:p>
          <a:p>
            <a:pPr>
              <a:lnSpc>
                <a:spcPct val="120000"/>
              </a:lnSpc>
            </a:pPr>
            <a:endParaRPr lang="en-US" sz="1500">
              <a:solidFill>
                <a:srgbClr val="FFFFFF"/>
              </a:solidFill>
            </a:endParaRPr>
          </a:p>
        </p:txBody>
      </p:sp>
    </p:spTree>
    <p:extLst>
      <p:ext uri="{BB962C8B-B14F-4D97-AF65-F5344CB8AC3E}">
        <p14:creationId xmlns:p14="http://schemas.microsoft.com/office/powerpoint/2010/main" val="518236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BAB60E1-3066-43D0-BDD2-96DC8AC584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79" cy="6857989"/>
          </a:xfrm>
          <a:prstGeom prst="rect">
            <a:avLst/>
          </a:prstGeom>
        </p:spPr>
      </p:pic>
      <p:sp>
        <p:nvSpPr>
          <p:cNvPr id="2" name="Title 1">
            <a:extLst>
              <a:ext uri="{FF2B5EF4-FFF2-40B4-BE49-F238E27FC236}">
                <a16:creationId xmlns:a16="http://schemas.microsoft.com/office/drawing/2014/main" id="{53AE6014-1946-13F0-1449-09FD41C8966C}"/>
              </a:ext>
            </a:extLst>
          </p:cNvPr>
          <p:cNvSpPr>
            <a:spLocks noGrp="1"/>
          </p:cNvSpPr>
          <p:nvPr>
            <p:ph type="title"/>
          </p:nvPr>
        </p:nvSpPr>
        <p:spPr>
          <a:xfrm>
            <a:off x="1088136" y="1069848"/>
            <a:ext cx="10084271" cy="1820488"/>
          </a:xfrm>
        </p:spPr>
        <p:txBody>
          <a:bodyPr>
            <a:normAutofit/>
          </a:bodyPr>
          <a:lstStyle/>
          <a:p>
            <a:r>
              <a:rPr lang="en-US" sz="6000">
                <a:solidFill>
                  <a:srgbClr val="FFFFFF"/>
                </a:solidFill>
                <a:latin typeface="Times New Roman" panose="02020603050405020304" pitchFamily="18" charset="0"/>
                <a:cs typeface="Times New Roman" panose="02020603050405020304" pitchFamily="18" charset="0"/>
              </a:rPr>
              <a:t>SSL/TLS: Report Weak Cipher Suites</a:t>
            </a:r>
          </a:p>
        </p:txBody>
      </p:sp>
      <p:cxnSp>
        <p:nvCxnSpPr>
          <p:cNvPr id="13" name="Straight Connector 12">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51E0F20-708F-702B-EF5A-CBA6B1E4BAE0}"/>
              </a:ext>
            </a:extLst>
          </p:cNvPr>
          <p:cNvSpPr>
            <a:spLocks noGrp="1"/>
          </p:cNvSpPr>
          <p:nvPr>
            <p:ph idx="1"/>
          </p:nvPr>
        </p:nvSpPr>
        <p:spPr>
          <a:xfrm>
            <a:off x="7315200" y="3001297"/>
            <a:ext cx="3695700" cy="2949676"/>
          </a:xfrm>
        </p:spPr>
        <p:txBody>
          <a:bodyPr anchor="b">
            <a:normAutofit/>
          </a:bodyPr>
          <a:lstStyle/>
          <a:p>
            <a:pPr>
              <a:lnSpc>
                <a:spcPct val="120000"/>
              </a:lnSpc>
            </a:pPr>
            <a:r>
              <a:rPr lang="en-US" sz="1400">
                <a:solidFill>
                  <a:srgbClr val="FFFFFF"/>
                </a:solidFill>
              </a:rPr>
              <a:t>SSL/TLS encryption protects data when its being transmitted between users and servers.</a:t>
            </a:r>
          </a:p>
          <a:p>
            <a:pPr>
              <a:lnSpc>
                <a:spcPct val="120000"/>
              </a:lnSpc>
            </a:pPr>
            <a:r>
              <a:rPr lang="en-US" sz="1400">
                <a:solidFill>
                  <a:srgbClr val="FFFFFF"/>
                </a:solidFill>
              </a:rPr>
              <a:t>Using weak cipher suites means that data can only be intercepted or decrypted from attacks during transmission.</a:t>
            </a:r>
          </a:p>
          <a:p>
            <a:pPr>
              <a:lnSpc>
                <a:spcPct val="120000"/>
              </a:lnSpc>
            </a:pPr>
            <a:r>
              <a:rPr lang="en-US" sz="1400">
                <a:solidFill>
                  <a:srgbClr val="FFFFFF"/>
                </a:solidFill>
              </a:rPr>
              <a:t>This impacts confidentiality and trust, especially when it comes to sensitive or customer information shared online.</a:t>
            </a:r>
          </a:p>
        </p:txBody>
      </p:sp>
    </p:spTree>
    <p:extLst>
      <p:ext uri="{BB962C8B-B14F-4D97-AF65-F5344CB8AC3E}">
        <p14:creationId xmlns:p14="http://schemas.microsoft.com/office/powerpoint/2010/main" val="2544923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0B51387-DF62-4500-88D6-AEF5409C4D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A67FB93-E092-450C-8675-960F10D5C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Decorative">
            <a:extLst>
              <a:ext uri="{FF2B5EF4-FFF2-40B4-BE49-F238E27FC236}">
                <a16:creationId xmlns:a16="http://schemas.microsoft.com/office/drawing/2014/main" id="{B308395C-BBB0-4ACF-888F-747D21D8C945}"/>
              </a:ext>
            </a:extLst>
          </p:cNvPr>
          <p:cNvPicPr>
            <a:picLocks noChangeAspect="1"/>
          </p:cNvPicPr>
          <p:nvPr/>
        </p:nvPicPr>
        <p:blipFill rotWithShape="1">
          <a:blip r:embed="rId3">
            <a:alphaModFix amt="60000"/>
            <a:extLst>
              <a:ext uri="{28A0092B-C50C-407E-A947-70E740481C1C}">
                <a14:useLocalDpi xmlns:a14="http://schemas.microsoft.com/office/drawing/2010/main" val="0"/>
              </a:ext>
            </a:extLst>
          </a:blip>
          <a:srcRect t="13007" b="30743"/>
          <a:stretch>
            <a:fillRect/>
          </a:stretch>
        </p:blipFill>
        <p:spPr>
          <a:xfrm>
            <a:off x="20" y="10"/>
            <a:ext cx="12191980" cy="6857989"/>
          </a:xfrm>
          <a:prstGeom prst="rect">
            <a:avLst/>
          </a:prstGeom>
        </p:spPr>
      </p:pic>
      <p:sp>
        <p:nvSpPr>
          <p:cNvPr id="2" name="Title 1">
            <a:extLst>
              <a:ext uri="{FF2B5EF4-FFF2-40B4-BE49-F238E27FC236}">
                <a16:creationId xmlns:a16="http://schemas.microsoft.com/office/drawing/2014/main" id="{55888A91-6A78-13A1-4478-47965740BBC7}"/>
              </a:ext>
            </a:extLst>
          </p:cNvPr>
          <p:cNvSpPr>
            <a:spLocks noGrp="1"/>
          </p:cNvSpPr>
          <p:nvPr>
            <p:ph type="title"/>
          </p:nvPr>
        </p:nvSpPr>
        <p:spPr>
          <a:xfrm>
            <a:off x="1088136" y="1066110"/>
            <a:ext cx="5625342" cy="4630055"/>
          </a:xfrm>
        </p:spPr>
        <p:txBody>
          <a:bodyPr>
            <a:normAutofit/>
          </a:bodyPr>
          <a:lstStyle/>
          <a:p>
            <a:r>
              <a:rPr lang="en-US" sz="6000" dirty="0">
                <a:solidFill>
                  <a:srgbClr val="FFFFFF"/>
                </a:solidFill>
                <a:latin typeface="Times New Roman" panose="02020603050405020304" pitchFamily="18" charset="0"/>
                <a:cs typeface="Times New Roman" panose="02020603050405020304" pitchFamily="18" charset="0"/>
              </a:rPr>
              <a:t>Summary</a:t>
            </a:r>
          </a:p>
        </p:txBody>
      </p:sp>
      <p:cxnSp>
        <p:nvCxnSpPr>
          <p:cNvPr id="17" name="Straight Connector 16">
            <a:extLst>
              <a:ext uri="{FF2B5EF4-FFF2-40B4-BE49-F238E27FC236}">
                <a16:creationId xmlns:a16="http://schemas.microsoft.com/office/drawing/2014/main" id="{F0748755-DDBC-46D0-91EC-1212A8EE2B4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183881"/>
            <a:ext cx="804195" cy="0"/>
          </a:xfrm>
          <a:prstGeom prst="line">
            <a:avLst/>
          </a:prstGeom>
          <a:ln w="8572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1B9D9C6C-E063-1BF4-EE0A-D6291108E33E}"/>
              </a:ext>
            </a:extLst>
          </p:cNvPr>
          <p:cNvSpPr>
            <a:spLocks noGrp="1"/>
          </p:cNvSpPr>
          <p:nvPr>
            <p:ph idx="1"/>
          </p:nvPr>
        </p:nvSpPr>
        <p:spPr>
          <a:xfrm>
            <a:off x="7315200" y="1007404"/>
            <a:ext cx="3695700" cy="5279095"/>
          </a:xfrm>
        </p:spPr>
        <p:txBody>
          <a:bodyPr>
            <a:normAutofit/>
          </a:bodyPr>
          <a:lstStyle/>
          <a:p>
            <a:pPr>
              <a:lnSpc>
                <a:spcPct val="120000"/>
              </a:lnSpc>
            </a:pPr>
            <a:r>
              <a:rPr lang="en-US" sz="1700" dirty="0">
                <a:solidFill>
                  <a:srgbClr val="FFFFFF"/>
                </a:solidFill>
              </a:rPr>
              <a:t>Taking action on patching SQL Server and HTTP.sys vulnerabilities to close exploit entry points for attackers. </a:t>
            </a:r>
          </a:p>
          <a:p>
            <a:pPr>
              <a:lnSpc>
                <a:spcPct val="120000"/>
              </a:lnSpc>
            </a:pPr>
            <a:r>
              <a:rPr lang="en-US" sz="1700" dirty="0">
                <a:solidFill>
                  <a:srgbClr val="FFFFFF"/>
                </a:solidFill>
              </a:rPr>
              <a:t>Enforcing a firm password policy to eliminate weak default credentials. </a:t>
            </a:r>
          </a:p>
          <a:p>
            <a:pPr>
              <a:lnSpc>
                <a:spcPct val="120000"/>
              </a:lnSpc>
            </a:pPr>
            <a:r>
              <a:rPr lang="en-US" sz="1700" dirty="0">
                <a:solidFill>
                  <a:srgbClr val="FFFFFF"/>
                </a:solidFill>
              </a:rPr>
              <a:t>Update encryption configurations to help strengthen long-term data protection.</a:t>
            </a:r>
          </a:p>
          <a:p>
            <a:pPr>
              <a:lnSpc>
                <a:spcPct val="120000"/>
              </a:lnSpc>
            </a:pPr>
            <a:r>
              <a:rPr lang="en-US" sz="1700" dirty="0">
                <a:solidFill>
                  <a:srgbClr val="FFFFFF"/>
                </a:solidFill>
              </a:rPr>
              <a:t>These fixes will set the organization up for success by strengthening its security posture. </a:t>
            </a:r>
          </a:p>
        </p:txBody>
      </p:sp>
    </p:spTree>
    <p:extLst>
      <p:ext uri="{BB962C8B-B14F-4D97-AF65-F5344CB8AC3E}">
        <p14:creationId xmlns:p14="http://schemas.microsoft.com/office/powerpoint/2010/main" val="716429093"/>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215</TotalTime>
  <Words>783</Words>
  <Application>Microsoft Office PowerPoint</Application>
  <PresentationFormat>Widescreen</PresentationFormat>
  <Paragraphs>49</Paragraphs>
  <Slides>8</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Neue Haas Grotesk Text Pro</vt:lpstr>
      <vt:lpstr>Times New Roman</vt:lpstr>
      <vt:lpstr>BjornVTI</vt:lpstr>
      <vt:lpstr>Security Assessment Presentation </vt:lpstr>
      <vt:lpstr>Introduction </vt:lpstr>
      <vt:lpstr>Relevant Vulnerabilities </vt:lpstr>
      <vt:lpstr>Microsoft SQL Server End of Life Detection</vt:lpstr>
      <vt:lpstr>MS15-034 HTTP.sys Remote Code Execution Vulnerability</vt:lpstr>
      <vt:lpstr>SMB Brute Force Logins With Default Credentials (admin:guest)</vt:lpstr>
      <vt:lpstr>SSL/TLS: Report Weak Cipher Suites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Salvo, Andree</dc:creator>
  <cp:lastModifiedBy>Salvo, Andree</cp:lastModifiedBy>
  <cp:revision>2</cp:revision>
  <dcterms:created xsi:type="dcterms:W3CDTF">2025-10-08T00:20:56Z</dcterms:created>
  <dcterms:modified xsi:type="dcterms:W3CDTF">2025-10-08T03:56:47Z</dcterms:modified>
</cp:coreProperties>
</file>